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Nunito SemiBold"/>
      <p:regular r:id="rId14"/>
      <p:bold r:id="rId15"/>
      <p:italic r:id="rId16"/>
      <p:boldItalic r:id="rId17"/>
    </p:embeddedFont>
    <p:embeddedFont>
      <p:font typeface="Montserra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Montserra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SemiBold-bold.fntdata"/><Relationship Id="rId14" Type="http://schemas.openxmlformats.org/officeDocument/2006/relationships/font" Target="fonts/NunitoSemiBold-regular.fntdata"/><Relationship Id="rId17" Type="http://schemas.openxmlformats.org/officeDocument/2006/relationships/font" Target="fonts/NunitoSemiBold-boldItalic.fntdata"/><Relationship Id="rId16" Type="http://schemas.openxmlformats.org/officeDocument/2006/relationships/font" Target="fonts/NunitoSemiBold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.fntdata"/><Relationship Id="rId6" Type="http://schemas.openxmlformats.org/officeDocument/2006/relationships/slide" Target="slides/slide1.xml"/><Relationship Id="rId18" Type="http://schemas.openxmlformats.org/officeDocument/2006/relationships/font" Target="fonts/Montserra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05b3177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05b3177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3924d9ac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3924d9ac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3924d9ac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3924d9ac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3924d9ac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3924d9ac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3924d9ac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3924d9ac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3924d9acc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3924d9acc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3924d9acc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3924d9ac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3924d9acc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3924d9acc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ll Out + Images_V2">
  <p:cSld name="CUSTOM_26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4420215"/>
            <a:ext cx="9144000" cy="723300"/>
          </a:xfrm>
          <a:prstGeom prst="rect">
            <a:avLst/>
          </a:prstGeom>
          <a:solidFill>
            <a:srgbClr val="E27530">
              <a:alpha val="142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329177" y="242313"/>
            <a:ext cx="6732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8C80"/>
              </a:buClr>
              <a:buSzPts val="2100"/>
              <a:buNone/>
              <a:defRPr sz="2100">
                <a:solidFill>
                  <a:srgbClr val="048C8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3" name="Google Shape;5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36159" y="368530"/>
            <a:ext cx="1182692" cy="22296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242700" y="4480068"/>
            <a:ext cx="8658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1E1E1E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sz="900">
                <a:solidFill>
                  <a:schemeClr val="lt1"/>
                </a:solidFill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sz="900">
                <a:solidFill>
                  <a:schemeClr val="lt1"/>
                </a:solidFill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sz="900">
                <a:solidFill>
                  <a:schemeClr val="lt1"/>
                </a:solidFill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sz="900">
                <a:solidFill>
                  <a:schemeClr val="lt1"/>
                </a:solidFill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sz="900">
                <a:solidFill>
                  <a:schemeClr val="lt1"/>
                </a:solidFill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sz="900">
                <a:solidFill>
                  <a:schemeClr val="lt1"/>
                </a:solidFill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sz="900">
                <a:solidFill>
                  <a:schemeClr val="lt1"/>
                </a:solidFill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6501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FFFFFF"/>
                </a:solidFill>
              </a:rPr>
              <a:t>Liverpool Los Angeles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7027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</a:rPr>
              <a:t>March 30th - April 5th</a:t>
            </a:r>
            <a:endParaRPr>
              <a:solidFill>
                <a:srgbClr val="D9D9D9"/>
              </a:solidFill>
            </a:endParaRPr>
          </a:p>
        </p:txBody>
      </p:sp>
      <p:pic>
        <p:nvPicPr>
          <p:cNvPr id="62" name="Google Shape;62;p14" title="Digitsup_LOGO_Se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0888" y="605075"/>
            <a:ext cx="1302226" cy="102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title="Screenshot 2026-04-07 at 8.20.5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819" y="883475"/>
            <a:ext cx="3358917" cy="120739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/>
          <p:nvPr/>
        </p:nvSpPr>
        <p:spPr>
          <a:xfrm>
            <a:off x="0" y="0"/>
            <a:ext cx="9144000" cy="4095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69" name="Google Shape;69;p15"/>
          <p:cNvSpPr txBox="1"/>
          <p:nvPr>
            <p:ph type="title"/>
          </p:nvPr>
        </p:nvSpPr>
        <p:spPr>
          <a:xfrm>
            <a:off x="0" y="0"/>
            <a:ext cx="4280700" cy="5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Klaviyo Performance Overview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0" y="4850725"/>
            <a:ext cx="9144000" cy="2928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pic>
        <p:nvPicPr>
          <p:cNvPr id="71" name="Google Shape;71;p15" title="Digitsup_LOGO_Sec.png"/>
          <p:cNvPicPr preferRelativeResize="0"/>
          <p:nvPr/>
        </p:nvPicPr>
        <p:blipFill rotWithShape="1">
          <a:blip r:embed="rId4">
            <a:alphaModFix/>
          </a:blip>
          <a:srcRect b="32090" l="25018" r="24081" t="4779"/>
          <a:stretch/>
        </p:blipFill>
        <p:spPr>
          <a:xfrm>
            <a:off x="94375" y="4516375"/>
            <a:ext cx="589552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511125" y="543575"/>
            <a:ext cx="1176000" cy="3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900">
                <a:solidFill>
                  <a:schemeClr val="dk1"/>
                </a:solidFill>
              </a:rPr>
              <a:t>YoY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4918575" y="543575"/>
            <a:ext cx="1176000" cy="3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900">
                <a:solidFill>
                  <a:schemeClr val="dk1"/>
                </a:solidFill>
              </a:rPr>
              <a:t>WoW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100" y="3313075"/>
            <a:ext cx="4126800" cy="12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GB" sz="750">
                <a:solidFill>
                  <a:srgbClr val="2E7D32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What's Working</a:t>
            </a:r>
            <a:endParaRPr b="1" sz="750">
              <a:solidFill>
                <a:srgbClr val="2E7D32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Total revenue up 52.8% YoY and 39.7% WoW to $281,929.77 — both comparisons are strongly positive</a:t>
            </a:r>
            <a:endParaRPr sz="7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Campaigns had a standout week: +90.6% YoY and +178.7% WoW — the April Spring Saving Sale send volume drove this</a:t>
            </a:r>
            <a:endParaRPr sz="7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Email remains the backbone at 71.41% of attributed revenue, up 71.2% YoY and 70.1% WoW</a:t>
            </a:r>
            <a:endParaRPr sz="7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4802100" y="3313063"/>
            <a:ext cx="4126800" cy="12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rgbClr val="C62828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Needs Attention</a:t>
            </a:r>
            <a:endParaRPr b="1" sz="750">
              <a:solidFill>
                <a:srgbClr val="C62828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5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Flows only grew 6% WoW despite strong YoY numbers (+45.9%) — campaign sends likely cannibalized flow conversions this week</a:t>
            </a:r>
            <a:endParaRPr sz="7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SMS is 28.59% of attributed revenue; given the list growth, this share should be trending higher</a:t>
            </a:r>
            <a:endParaRPr sz="7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6" name="Google Shape;76;p15" title="Screenshot 2026-04-07 at 8.21.10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6236" y="2562685"/>
            <a:ext cx="3431543" cy="67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 title="Screenshot 2026-04-07 at 8.21.04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1325" y="1973947"/>
            <a:ext cx="3404308" cy="662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 title="Screenshot 2026-04-07 at 8.33.16 A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18575" y="883475"/>
            <a:ext cx="3410882" cy="1237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 title="Screenshot 2026-04-07 at 8.33.23 A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78664" y="1996218"/>
            <a:ext cx="3371461" cy="705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 title="Screenshot 2026-04-07 at 8.33.26 AM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91745" y="2592779"/>
            <a:ext cx="3319658" cy="613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/>
          <p:nvPr/>
        </p:nvSpPr>
        <p:spPr>
          <a:xfrm>
            <a:off x="0" y="4850725"/>
            <a:ext cx="9144000" cy="2928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0" y="0"/>
            <a:ext cx="9144000" cy="4095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0" y="0"/>
            <a:ext cx="42807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Klaviyo Campaign Review</a:t>
            </a:r>
            <a:endParaRPr b="1" sz="2000">
              <a:solidFill>
                <a:schemeClr val="lt1"/>
              </a:solidFill>
            </a:endParaRPr>
          </a:p>
        </p:txBody>
      </p:sp>
      <p:pic>
        <p:nvPicPr>
          <p:cNvPr id="88" name="Google Shape;88;p16" title="Digitsup_LOGO_Sec.png"/>
          <p:cNvPicPr preferRelativeResize="0"/>
          <p:nvPr/>
        </p:nvPicPr>
        <p:blipFill rotWithShape="1">
          <a:blip r:embed="rId3">
            <a:alphaModFix/>
          </a:blip>
          <a:srcRect b="32090" l="25018" r="24081" t="4779"/>
          <a:stretch/>
        </p:blipFill>
        <p:spPr>
          <a:xfrm>
            <a:off x="94375" y="4516375"/>
            <a:ext cx="589552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312450" y="1206250"/>
            <a:ext cx="4280700" cy="3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2E7D32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What's Working</a:t>
            </a:r>
            <a:br>
              <a:rPr b="1" lang="en-GB" sz="700">
                <a:solidFill>
                  <a:srgbClr val="2E7D32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b="1" sz="700">
              <a:solidFill>
                <a:srgbClr val="2E7D32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Audience growth is exceptional: email recipients up 139.8% and SMS up 304% YoY — strong list-building momentum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Conversion value nearly doubled YoY (+90.6%) with email revenue up 98.1% — solid growth despite list dilution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Click volume is strong at scale: email clicks +141.5% and SMS clicks +86.9%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C62828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Needs Attention</a:t>
            </a:r>
            <a:br>
              <a:rPr b="1" lang="en-GB" sz="700">
                <a:solidFill>
                  <a:srgbClr val="C62828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b="1" sz="700">
              <a:solidFill>
                <a:srgbClr val="C62828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Open rate dropped 10.3% YoY to 43.4% despite the volume surge — worth monitoring inbox placement and subject line fatigue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Conversion rates declining across both channels: email CVR down 21.2%, SMS CVR down 62.5% — rapid list growth is diluting efficiency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RPR sliding: email down 17.4% ($0.0481), SMS down 61.7% ($0.0608)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Opportunities</a:t>
            </a:r>
            <a:br>
              <a:rPr b="1"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b="1"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AOV is holding strong ($185 email, $182 SMS) — segmenting higher-intent subscribers could lift CVR without sacrificing order value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SMS at 304% recipient growth with conversions still flowing — tightening targeting is the lever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0" name="Google Shape;90;p16" title="Screenshot 2026-04-07 at 8.22.26 AM.png"/>
          <p:cNvPicPr preferRelativeResize="0"/>
          <p:nvPr/>
        </p:nvPicPr>
        <p:blipFill rotWithShape="1">
          <a:blip r:embed="rId4">
            <a:alphaModFix/>
          </a:blip>
          <a:srcRect b="52304" l="0" r="0" t="0"/>
          <a:stretch/>
        </p:blipFill>
        <p:spPr>
          <a:xfrm>
            <a:off x="2553351" y="560058"/>
            <a:ext cx="2208700" cy="646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 title="Screenshot 2026-04-07 at 8.22.31 AM.png"/>
          <p:cNvPicPr preferRelativeResize="0"/>
          <p:nvPr/>
        </p:nvPicPr>
        <p:blipFill rotWithShape="1">
          <a:blip r:embed="rId5">
            <a:alphaModFix/>
          </a:blip>
          <a:srcRect b="0" l="80576" r="0" t="0"/>
          <a:stretch/>
        </p:blipFill>
        <p:spPr>
          <a:xfrm>
            <a:off x="7553982" y="736750"/>
            <a:ext cx="1237171" cy="3886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 title="Screenshot 2026-04-07 at 8.22.26 AM.png"/>
          <p:cNvPicPr preferRelativeResize="0"/>
          <p:nvPr/>
        </p:nvPicPr>
        <p:blipFill rotWithShape="1">
          <a:blip r:embed="rId4">
            <a:alphaModFix/>
          </a:blip>
          <a:srcRect b="6096" l="0" r="0" t="48206"/>
          <a:stretch/>
        </p:blipFill>
        <p:spPr>
          <a:xfrm>
            <a:off x="312452" y="573576"/>
            <a:ext cx="2208700" cy="61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 title="Screenshot 2026-04-07 at 8.22.31 AM.png"/>
          <p:cNvPicPr preferRelativeResize="0"/>
          <p:nvPr/>
        </p:nvPicPr>
        <p:blipFill rotWithShape="1">
          <a:blip r:embed="rId5">
            <a:alphaModFix/>
          </a:blip>
          <a:srcRect b="0" l="51677" r="29810" t="0"/>
          <a:stretch/>
        </p:blipFill>
        <p:spPr>
          <a:xfrm>
            <a:off x="6322709" y="736750"/>
            <a:ext cx="1179113" cy="3886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 title="Screenshot 2026-04-07 at 8.22.31 AM.png"/>
          <p:cNvPicPr preferRelativeResize="0"/>
          <p:nvPr/>
        </p:nvPicPr>
        <p:blipFill rotWithShape="1">
          <a:blip r:embed="rId5">
            <a:alphaModFix/>
          </a:blip>
          <a:srcRect b="0" l="0" r="78204" t="0"/>
          <a:stretch/>
        </p:blipFill>
        <p:spPr>
          <a:xfrm>
            <a:off x="4934428" y="736750"/>
            <a:ext cx="1388278" cy="388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/>
          <p:nvPr/>
        </p:nvSpPr>
        <p:spPr>
          <a:xfrm>
            <a:off x="0" y="0"/>
            <a:ext cx="9144000" cy="4095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100" name="Google Shape;100;p17"/>
          <p:cNvSpPr txBox="1"/>
          <p:nvPr>
            <p:ph type="title"/>
          </p:nvPr>
        </p:nvSpPr>
        <p:spPr>
          <a:xfrm>
            <a:off x="0" y="0"/>
            <a:ext cx="42807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Klaviyo Flow Review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0" y="4850725"/>
            <a:ext cx="9144000" cy="2928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pic>
        <p:nvPicPr>
          <p:cNvPr id="102" name="Google Shape;102;p17" title="Digitsup_LOGO_Sec.png"/>
          <p:cNvPicPr preferRelativeResize="0"/>
          <p:nvPr/>
        </p:nvPicPr>
        <p:blipFill rotWithShape="1">
          <a:blip r:embed="rId3">
            <a:alphaModFix/>
          </a:blip>
          <a:srcRect b="32090" l="25018" r="24081" t="4779"/>
          <a:stretch/>
        </p:blipFill>
        <p:spPr>
          <a:xfrm>
            <a:off x="94375" y="4516375"/>
            <a:ext cx="589552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7" title="Screenshot 2026-04-07 at 8.23.58 AM.png"/>
          <p:cNvPicPr preferRelativeResize="0"/>
          <p:nvPr/>
        </p:nvPicPr>
        <p:blipFill rotWithShape="1">
          <a:blip r:embed="rId4">
            <a:alphaModFix/>
          </a:blip>
          <a:srcRect b="51250" l="0" r="0" t="0"/>
          <a:stretch/>
        </p:blipFill>
        <p:spPr>
          <a:xfrm>
            <a:off x="2491687" y="496333"/>
            <a:ext cx="2080313" cy="665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7" title="Screenshot 2026-04-07 at 8.23.58 AM.png"/>
          <p:cNvPicPr preferRelativeResize="0"/>
          <p:nvPr/>
        </p:nvPicPr>
        <p:blipFill rotWithShape="1">
          <a:blip r:embed="rId4">
            <a:alphaModFix/>
          </a:blip>
          <a:srcRect b="5781" l="0" r="0" t="49506"/>
          <a:stretch/>
        </p:blipFill>
        <p:spPr>
          <a:xfrm>
            <a:off x="353575" y="523906"/>
            <a:ext cx="2080313" cy="610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 title="Screenshot 2026-04-07 at 8.24.03 AM.png"/>
          <p:cNvPicPr preferRelativeResize="0"/>
          <p:nvPr/>
        </p:nvPicPr>
        <p:blipFill rotWithShape="1">
          <a:blip r:embed="rId5">
            <a:alphaModFix/>
          </a:blip>
          <a:srcRect b="0" l="79253" r="0" t="0"/>
          <a:stretch/>
        </p:blipFill>
        <p:spPr>
          <a:xfrm>
            <a:off x="7611887" y="628150"/>
            <a:ext cx="1365464" cy="4003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 title="Screenshot 2026-04-07 at 8.24.03 AM.png"/>
          <p:cNvPicPr preferRelativeResize="0"/>
          <p:nvPr/>
        </p:nvPicPr>
        <p:blipFill rotWithShape="1">
          <a:blip r:embed="rId5">
            <a:alphaModFix/>
          </a:blip>
          <a:srcRect b="0" l="50351" r="28902" t="0"/>
          <a:stretch/>
        </p:blipFill>
        <p:spPr>
          <a:xfrm>
            <a:off x="6309514" y="628150"/>
            <a:ext cx="1365464" cy="4003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7" title="Screenshot 2026-04-07 at 8.24.03 AM.png"/>
          <p:cNvPicPr preferRelativeResize="0"/>
          <p:nvPr/>
        </p:nvPicPr>
        <p:blipFill rotWithShape="1">
          <a:blip r:embed="rId5">
            <a:alphaModFix/>
          </a:blip>
          <a:srcRect b="0" l="0" r="80042" t="0"/>
          <a:stretch/>
        </p:blipFill>
        <p:spPr>
          <a:xfrm>
            <a:off x="5077650" y="628150"/>
            <a:ext cx="1313556" cy="400392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7"/>
          <p:cNvSpPr txBox="1"/>
          <p:nvPr/>
        </p:nvSpPr>
        <p:spPr>
          <a:xfrm>
            <a:off x="312450" y="1046675"/>
            <a:ext cx="4413600" cy="3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2E7D32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What's Working</a:t>
            </a:r>
            <a:br>
              <a:rPr b="1" lang="en-GB" sz="700">
                <a:solidFill>
                  <a:srgbClr val="2E7D32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b="1" sz="700">
              <a:solidFill>
                <a:srgbClr val="2E7D32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Flow revenue up 45.9% YoY to $86.4K — automation is carrying its weight and slightly outpacing campaigns this week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Email flow health is solid: open rate holding at 56.8% (+0.6%) and CVR improving (+1.4%) — well-optimized sequences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SMS flow clicks up 178.1% and conversions up 51% YoY — strong engagement signals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C62828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Needs Attention</a:t>
            </a:r>
            <a:br>
              <a:rPr b="1" lang="en-GB" sz="700">
                <a:solidFill>
                  <a:srgbClr val="C62828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b="1" sz="700">
              <a:solidFill>
                <a:srgbClr val="C62828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SMS flow CVR down 51.5% (1.85%) and RPR down 52.3% ($2.91) — the 212% audience growth is diluting efficiency significantly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SMS CTR declining 10.7% as the audience scales — segmentation refinement needed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Opportunities</a:t>
            </a:r>
            <a:br>
              <a:rPr b="1"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b="1"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SMS flows generating $36.7K at relatively small list size — as targeting tightens, upside here is significant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Email flows at $1.13 RPR with strong conversions — expanding triggered coverage (VIP, post-purchase sequences) would compound results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/>
          <p:nvPr/>
        </p:nvSpPr>
        <p:spPr>
          <a:xfrm>
            <a:off x="0" y="4850725"/>
            <a:ext cx="9144000" cy="2928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0" y="0"/>
            <a:ext cx="9144000" cy="4095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115" name="Google Shape;115;p18"/>
          <p:cNvSpPr txBox="1"/>
          <p:nvPr>
            <p:ph type="title"/>
          </p:nvPr>
        </p:nvSpPr>
        <p:spPr>
          <a:xfrm>
            <a:off x="0" y="0"/>
            <a:ext cx="42807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Klaviyo Top 5 Review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318550" y="441300"/>
            <a:ext cx="1176000" cy="3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900">
                <a:solidFill>
                  <a:schemeClr val="dk1"/>
                </a:solidFill>
              </a:rPr>
              <a:t>Campaigns 2026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4798375" y="441300"/>
            <a:ext cx="1176000" cy="3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900">
                <a:solidFill>
                  <a:schemeClr val="dk1"/>
                </a:solidFill>
              </a:rPr>
              <a:t>Flows 2026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290913" y="2553050"/>
            <a:ext cx="1176000" cy="3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900">
                <a:solidFill>
                  <a:schemeClr val="dk1"/>
                </a:solidFill>
              </a:rPr>
              <a:t>Campaigns 2025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4770738" y="2553050"/>
            <a:ext cx="1176000" cy="3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900">
                <a:solidFill>
                  <a:schemeClr val="dk1"/>
                </a:solidFill>
              </a:rPr>
              <a:t>Flows 2025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120" name="Google Shape;120;p18" title="Digitsup_LOGO_Sec.png"/>
          <p:cNvPicPr preferRelativeResize="0"/>
          <p:nvPr/>
        </p:nvPicPr>
        <p:blipFill rotWithShape="1">
          <a:blip r:embed="rId3">
            <a:alphaModFix/>
          </a:blip>
          <a:srcRect b="32090" l="25018" r="24081" t="4779"/>
          <a:stretch/>
        </p:blipFill>
        <p:spPr>
          <a:xfrm>
            <a:off x="94375" y="4516375"/>
            <a:ext cx="589552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8" title="Screenshot 2026-04-07 at 8.25.15 AM.png"/>
          <p:cNvPicPr preferRelativeResize="0"/>
          <p:nvPr/>
        </p:nvPicPr>
        <p:blipFill rotWithShape="1">
          <a:blip r:embed="rId4">
            <a:alphaModFix/>
          </a:blip>
          <a:srcRect b="0" l="51067" r="0" t="0"/>
          <a:stretch/>
        </p:blipFill>
        <p:spPr>
          <a:xfrm>
            <a:off x="1893283" y="709775"/>
            <a:ext cx="2282802" cy="1884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8" title="Screenshot 2026-04-07 at 8.25.11 AM.png"/>
          <p:cNvPicPr preferRelativeResize="0"/>
          <p:nvPr/>
        </p:nvPicPr>
        <p:blipFill rotWithShape="1">
          <a:blip r:embed="rId5">
            <a:alphaModFix/>
          </a:blip>
          <a:srcRect b="0" l="0" r="70538" t="0"/>
          <a:stretch/>
        </p:blipFill>
        <p:spPr>
          <a:xfrm>
            <a:off x="4663825" y="735150"/>
            <a:ext cx="1545036" cy="178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8" title="Screenshot 2026-04-07 at 8.25.11 AM.png"/>
          <p:cNvPicPr preferRelativeResize="0"/>
          <p:nvPr/>
        </p:nvPicPr>
        <p:blipFill rotWithShape="1">
          <a:blip r:embed="rId5">
            <a:alphaModFix/>
          </a:blip>
          <a:srcRect b="0" l="49832" r="0" t="0"/>
          <a:stretch/>
        </p:blipFill>
        <p:spPr>
          <a:xfrm>
            <a:off x="6170324" y="735150"/>
            <a:ext cx="2630853" cy="178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8" title="Screenshot 2026-04-07 at 8.25.15 AM.png"/>
          <p:cNvPicPr preferRelativeResize="0"/>
          <p:nvPr/>
        </p:nvPicPr>
        <p:blipFill rotWithShape="1">
          <a:blip r:embed="rId4">
            <a:alphaModFix/>
          </a:blip>
          <a:srcRect b="0" l="0" r="66579" t="0"/>
          <a:stretch/>
        </p:blipFill>
        <p:spPr>
          <a:xfrm>
            <a:off x="318550" y="665152"/>
            <a:ext cx="1559150" cy="1884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8" title="Screenshot 2026-04-07 at 8.27.18 AM.png"/>
          <p:cNvPicPr preferRelativeResize="0"/>
          <p:nvPr/>
        </p:nvPicPr>
        <p:blipFill rotWithShape="1">
          <a:blip r:embed="rId6">
            <a:alphaModFix/>
          </a:blip>
          <a:srcRect b="0" l="51473" r="0" t="0"/>
          <a:stretch/>
        </p:blipFill>
        <p:spPr>
          <a:xfrm>
            <a:off x="1894997" y="2827925"/>
            <a:ext cx="2268706" cy="1766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8" title="Screenshot 2026-04-07 at 8.27.18 AM.png"/>
          <p:cNvPicPr preferRelativeResize="0"/>
          <p:nvPr/>
        </p:nvPicPr>
        <p:blipFill rotWithShape="1">
          <a:blip r:embed="rId6">
            <a:alphaModFix/>
          </a:blip>
          <a:srcRect b="0" l="0" r="65689" t="0"/>
          <a:stretch/>
        </p:blipFill>
        <p:spPr>
          <a:xfrm>
            <a:off x="290925" y="2827925"/>
            <a:ext cx="1604075" cy="1766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8" title="Screenshot 2026-04-07 at 8.27.12 AM.png"/>
          <p:cNvPicPr preferRelativeResize="0"/>
          <p:nvPr/>
        </p:nvPicPr>
        <p:blipFill rotWithShape="1">
          <a:blip r:embed="rId7">
            <a:alphaModFix/>
          </a:blip>
          <a:srcRect b="0" l="0" r="75205" t="0"/>
          <a:stretch/>
        </p:blipFill>
        <p:spPr>
          <a:xfrm>
            <a:off x="4727875" y="2798300"/>
            <a:ext cx="1356719" cy="1812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8" title="Screenshot 2026-04-07 at 8.27.12 AM.png"/>
          <p:cNvPicPr preferRelativeResize="0"/>
          <p:nvPr/>
        </p:nvPicPr>
        <p:blipFill rotWithShape="1">
          <a:blip r:embed="rId7">
            <a:alphaModFix/>
          </a:blip>
          <a:srcRect b="0" l="48063" r="0" t="0"/>
          <a:stretch/>
        </p:blipFill>
        <p:spPr>
          <a:xfrm>
            <a:off x="6011799" y="2812531"/>
            <a:ext cx="2841827" cy="1812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/>
          <p:nvPr/>
        </p:nvSpPr>
        <p:spPr>
          <a:xfrm>
            <a:off x="0" y="4850725"/>
            <a:ext cx="9144000" cy="2928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0" y="0"/>
            <a:ext cx="9144000" cy="4095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135" name="Google Shape;135;p19"/>
          <p:cNvSpPr txBox="1"/>
          <p:nvPr>
            <p:ph type="title"/>
          </p:nvPr>
        </p:nvSpPr>
        <p:spPr>
          <a:xfrm>
            <a:off x="0" y="0"/>
            <a:ext cx="42807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Klaviyo Top 5 Insights</a:t>
            </a:r>
            <a:endParaRPr b="1" sz="2000">
              <a:solidFill>
                <a:schemeClr val="lt1"/>
              </a:solidFill>
            </a:endParaRPr>
          </a:p>
        </p:txBody>
      </p:sp>
      <p:pic>
        <p:nvPicPr>
          <p:cNvPr id="136" name="Google Shape;136;p19" title="Digitsup_LOGO_Sec.png"/>
          <p:cNvPicPr preferRelativeResize="0"/>
          <p:nvPr/>
        </p:nvPicPr>
        <p:blipFill rotWithShape="1">
          <a:blip r:embed="rId3">
            <a:alphaModFix/>
          </a:blip>
          <a:srcRect b="32090" l="25018" r="24081" t="4779"/>
          <a:stretch/>
        </p:blipFill>
        <p:spPr>
          <a:xfrm>
            <a:off x="94375" y="4516375"/>
            <a:ext cx="589552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9"/>
          <p:cNvSpPr txBox="1"/>
          <p:nvPr/>
        </p:nvSpPr>
        <p:spPr>
          <a:xfrm>
            <a:off x="230325" y="775550"/>
            <a:ext cx="3855600" cy="38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8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Campaigns</a:t>
            </a:r>
            <a:br>
              <a:rPr b="1" lang="en-GB" sz="8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b="1" sz="8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8257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Montserrat"/>
              <a:buChar char="●"/>
            </a:pPr>
            <a:r>
              <a:rPr lang="en-GB" sz="8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The April Spring Saving Sale series dominated the week across all four sends, with the initial send (4/03) generating $21.2K — 2.4x the next best send. Urgency sequencing (Last Chance AM/PM) added $15.5K combined but showed diminishing returns in both open rate and RPR, which is expected. The One Piece Dress send on 4/1 performed quietly at $6.16K with strong list size (232K) but low conversion volume — a product-specific send that likely had narrow appeal.</a:t>
            </a:r>
            <a:br>
              <a:rPr lang="en-GB" sz="8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sz="8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8257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Montserrat"/>
              <a:buChar char="●"/>
            </a:pPr>
            <a:r>
              <a:rPr lang="en-GB" sz="8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YoY comparison: 2025's top campaigns were Santorini Floral Prints ($9.73K) and Super Stride ($9.34K) — this week's sends are already generating 2x+ the revenue of last year's comparable sends, reflecting both list growth and improved send strategy.</a:t>
            </a:r>
            <a:endParaRPr sz="8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t/>
            </a:r>
            <a:endParaRPr sz="8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4513950" y="775550"/>
            <a:ext cx="3855600" cy="38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8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Automations</a:t>
            </a:r>
            <a:br>
              <a:rPr b="1" lang="en-GB" sz="8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b="1" sz="8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8257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Montserrat"/>
              <a:buChar char="●"/>
            </a:pPr>
            <a:r>
              <a:rPr lang="en-GB" sz="8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Welcome SMS 2026 is the highest-converting flow at $9.01/recipient with 108 orders from 1,658 deliveries — the strongest RPR across all flows. Welcome Email 2026 follows at $2.90/recipient with 90 orders — both welcome series are performing well but SMS is outperforming email significantly on a per-recipient basis.</a:t>
            </a:r>
            <a:br>
              <a:rPr lang="en-GB" sz="8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sz="8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8257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Montserrat"/>
              <a:buChar char="●"/>
            </a:pPr>
            <a:r>
              <a:rPr lang="en-GB" sz="8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YoY comparison: Welcome SMS 2025 generated $16.30/recipient — the current flow is underperforming its predecessor on RPR, which is worth investigating (offer change, sequence length, or list composition shift).</a:t>
            </a:r>
            <a:br>
              <a:rPr lang="en-GB" sz="8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sz="8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8257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Montserrat"/>
              <a:buChar char="●"/>
            </a:pPr>
            <a:r>
              <a:rPr lang="en-GB" sz="8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Back in Stock VIP vs. Non-VIP is punching above its weight at $8.12/recipient with only 858 deliveries — segmenting by VIP status is working.</a:t>
            </a:r>
            <a:endParaRPr sz="8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t/>
            </a:r>
            <a:endParaRPr sz="8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0" y="0"/>
            <a:ext cx="9144000" cy="4095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144" name="Google Shape;144;p20"/>
          <p:cNvSpPr txBox="1"/>
          <p:nvPr>
            <p:ph type="title"/>
          </p:nvPr>
        </p:nvSpPr>
        <p:spPr>
          <a:xfrm>
            <a:off x="0" y="0"/>
            <a:ext cx="42807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Klaviyo Last 30 Days YoY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0" y="4850725"/>
            <a:ext cx="9144000" cy="2928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pic>
        <p:nvPicPr>
          <p:cNvPr id="146" name="Google Shape;14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389" y="409500"/>
            <a:ext cx="4881585" cy="444122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0"/>
          <p:cNvSpPr txBox="1"/>
          <p:nvPr/>
        </p:nvSpPr>
        <p:spPr>
          <a:xfrm>
            <a:off x="143650" y="516750"/>
            <a:ext cx="3895800" cy="39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2E7D32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What's Working</a:t>
            </a:r>
            <a:br>
              <a:rPr b="1" lang="en-GB" sz="700">
                <a:solidFill>
                  <a:srgbClr val="2E7D32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b="1" sz="700">
              <a:solidFill>
                <a:srgbClr val="2E7D32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Total revenue up 53% YoY with Klaviyo at 58.93% attribution — strong channel performance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Flows outpacing campaigns (52% vs 48%) — automation is doing the heavy lifting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Abandoned Checkout up 153.77%, Browse Abandonment up 172.30% — recovery flows are firing well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Back in Stock +810.65% and Rewards Point Reminder +638.26% — inventory and loyalty triggers are high-ROI levers right now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C62828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Needs Attention</a:t>
            </a:r>
            <a:br>
              <a:rPr b="1" lang="en-GB" sz="700">
                <a:solidFill>
                  <a:srgbClr val="C62828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b="1" sz="700">
              <a:solidFill>
                <a:srgbClr val="C62828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Per-recipient value is $0.10 overall — there's room to improve targeting and segmentation across both channels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SMS at 28.59% of attributed revenue should be trending higher given the list growth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Opportunities</a:t>
            </a:r>
            <a:br>
              <a:rPr b="1"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b="1"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Welcome SMS at $9.01/recipient is the top RPR flow — expanding or sequencing this series further has clear upside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Post-Purchase flow has 7,323 deliveries at $0.66/rec — high volume, low yield; an offer or sequence audit could meaningfully lift this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8" name="Google Shape;148;p20" title="Digitsup_LOGO_Sec.png"/>
          <p:cNvPicPr preferRelativeResize="0"/>
          <p:nvPr/>
        </p:nvPicPr>
        <p:blipFill rotWithShape="1">
          <a:blip r:embed="rId4">
            <a:alphaModFix/>
          </a:blip>
          <a:srcRect b="32090" l="25018" r="24081" t="4779"/>
          <a:stretch/>
        </p:blipFill>
        <p:spPr>
          <a:xfrm>
            <a:off x="94375" y="4516375"/>
            <a:ext cx="589552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/>
          <p:nvPr/>
        </p:nvSpPr>
        <p:spPr>
          <a:xfrm>
            <a:off x="0" y="0"/>
            <a:ext cx="9144000" cy="4095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154" name="Google Shape;154;p21"/>
          <p:cNvSpPr txBox="1"/>
          <p:nvPr>
            <p:ph type="title"/>
          </p:nvPr>
        </p:nvSpPr>
        <p:spPr>
          <a:xfrm>
            <a:off x="0" y="0"/>
            <a:ext cx="42807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Klaviyo Last 30 Days WoW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0" y="4850725"/>
            <a:ext cx="9144000" cy="2928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pic>
        <p:nvPicPr>
          <p:cNvPr id="156" name="Google Shape;15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2000" y="409500"/>
            <a:ext cx="4506101" cy="444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1"/>
          <p:cNvSpPr txBox="1"/>
          <p:nvPr/>
        </p:nvSpPr>
        <p:spPr>
          <a:xfrm>
            <a:off x="143650" y="516750"/>
            <a:ext cx="4188600" cy="39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2E7D32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What's Working</a:t>
            </a:r>
            <a:br>
              <a:rPr b="1" lang="en-GB" sz="700">
                <a:solidFill>
                  <a:srgbClr val="2E7D32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b="1" sz="700">
              <a:solidFill>
                <a:srgbClr val="2E7D32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Total Klaviyo revenue up 40% WoW and attributed revenue up 51% — a strong week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Back in Stock surging +114.96% WoW — a restock event is driving this; capitalize while it's active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Win-back flow up 92.92% WoW — re-engagement is hitting the right lapsed contacts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Post-Purchase up 38.45% WoW — recent buyers are converting well from follow-up sequences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C62828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Needs Attention</a:t>
            </a:r>
            <a:br>
              <a:rPr b="1" lang="en-GB" sz="700">
                <a:solidFill>
                  <a:srgbClr val="C62828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b="1" sz="700">
              <a:solidFill>
                <a:srgbClr val="C62828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Rewards Monthly Update down 46.60% WoW and Rewards Point Reminder down 30.53% — loyalty messaging cooling, possible cadence or offer fatigue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Browse Abandonment down 28.04% WoW after strong YoY numbers — check for a drop in browse activity or a trigger issue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Welcome SMS down 14.49% WoW despite being the top RPR flow — check send volume consistency and list intake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Opportunities</a:t>
            </a:r>
            <a:br>
              <a:rPr b="1"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b="1"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Win-back surge (+92.92%) suggests a receptive lapsed segment — a targeted reactivation push could extend the momentum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Back in Stock spike is a high-converting moment — ensure all eligible product categories have this trigger active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8" name="Google Shape;158;p21" title="Digitsup_LOGO_Sec.png"/>
          <p:cNvPicPr preferRelativeResize="0"/>
          <p:nvPr/>
        </p:nvPicPr>
        <p:blipFill rotWithShape="1">
          <a:blip r:embed="rId4">
            <a:alphaModFix/>
          </a:blip>
          <a:srcRect b="32090" l="25018" r="24081" t="4779"/>
          <a:stretch/>
        </p:blipFill>
        <p:spPr>
          <a:xfrm>
            <a:off x="94375" y="4516375"/>
            <a:ext cx="589552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