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Nunito SemiBold"/>
      <p:regular r:id="rId14"/>
      <p:bold r:id="rId15"/>
      <p:italic r:id="rId16"/>
      <p:boldItalic r:id="rId17"/>
    </p:embeddedFont>
    <p:embeddedFont>
      <p:font typeface="Montserrat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Montserrat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SemiBold-bold.fntdata"/><Relationship Id="rId14" Type="http://schemas.openxmlformats.org/officeDocument/2006/relationships/font" Target="fonts/NunitoSemiBold-regular.fntdata"/><Relationship Id="rId17" Type="http://schemas.openxmlformats.org/officeDocument/2006/relationships/font" Target="fonts/NunitoSemiBold-boldItalic.fntdata"/><Relationship Id="rId16" Type="http://schemas.openxmlformats.org/officeDocument/2006/relationships/font" Target="fonts/NunitoSemiBold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bold.fntdata"/><Relationship Id="rId6" Type="http://schemas.openxmlformats.org/officeDocument/2006/relationships/slide" Target="slides/slide1.xml"/><Relationship Id="rId18" Type="http://schemas.openxmlformats.org/officeDocument/2006/relationships/font" Target="fonts/Montserra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05b3177f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05b3177f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d3924d9ac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d3924d9ac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3924d9acc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d3924d9acc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3924d9acc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d3924d9acc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3924d9acc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d3924d9acc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3924d9acc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d3924d9acc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3924d9acc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d3924d9acc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3924d9acc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d3924d9acc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ll Out + Images_V2">
  <p:cSld name="CUSTOM_26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0" y="4420215"/>
            <a:ext cx="9144000" cy="723300"/>
          </a:xfrm>
          <a:prstGeom prst="rect">
            <a:avLst/>
          </a:prstGeom>
          <a:solidFill>
            <a:srgbClr val="E27530">
              <a:alpha val="142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329177" y="242313"/>
            <a:ext cx="6732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48C80"/>
              </a:buClr>
              <a:buSzPts val="2100"/>
              <a:buNone/>
              <a:defRPr sz="2100">
                <a:solidFill>
                  <a:srgbClr val="048C8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3" name="Google Shape;53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436159" y="368530"/>
            <a:ext cx="1182692" cy="222964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242700" y="4480068"/>
            <a:ext cx="8658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1E1E1E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 sz="900">
                <a:solidFill>
                  <a:schemeClr val="lt1"/>
                </a:solidFill>
              </a:defRPr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 sz="900">
                <a:solidFill>
                  <a:schemeClr val="lt1"/>
                </a:solidFill>
              </a:defRPr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 sz="900">
                <a:solidFill>
                  <a:schemeClr val="lt1"/>
                </a:solidFill>
              </a:defRPr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 sz="900">
                <a:solidFill>
                  <a:schemeClr val="lt1"/>
                </a:solidFill>
              </a:defRPr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 sz="900">
                <a:solidFill>
                  <a:schemeClr val="lt1"/>
                </a:solidFill>
              </a:defRPr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 sz="900">
                <a:solidFill>
                  <a:schemeClr val="lt1"/>
                </a:solidFill>
              </a:defRPr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 sz="900">
                <a:solidFill>
                  <a:schemeClr val="lt1"/>
                </a:solidFill>
              </a:defRPr>
            </a:lvl8pPr>
            <a:lvl9pPr lvl="8" rtl="0">
              <a:spcBef>
                <a:spcPts val="1200"/>
              </a:spcBef>
              <a:spcAft>
                <a:spcPts val="1200"/>
              </a:spcAft>
              <a:buNone/>
              <a:defRPr sz="9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1.png"/><Relationship Id="rId8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7.png"/><Relationship Id="rId7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20.png"/><Relationship Id="rId5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3176EE"/>
              </a:gs>
              <a:gs pos="100000">
                <a:srgbClr val="14284D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accent2"/>
              </a:highlight>
            </a:endParaRPr>
          </a:p>
        </p:txBody>
      </p:sp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6501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rgbClr val="FFFFFF"/>
                </a:solidFill>
              </a:rPr>
              <a:t>Liverpool Los Angeles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7027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D9D9D9"/>
                </a:solidFill>
              </a:rPr>
              <a:t>March 23rd - 29th</a:t>
            </a:r>
            <a:endParaRPr>
              <a:solidFill>
                <a:srgbClr val="D9D9D9"/>
              </a:solidFill>
            </a:endParaRPr>
          </a:p>
        </p:txBody>
      </p:sp>
      <p:pic>
        <p:nvPicPr>
          <p:cNvPr id="62" name="Google Shape;62;p14" title="Digitsup_LOGO_Se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0888" y="605075"/>
            <a:ext cx="1302226" cy="102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/>
          <p:nvPr/>
        </p:nvSpPr>
        <p:spPr>
          <a:xfrm>
            <a:off x="0" y="0"/>
            <a:ext cx="9144000" cy="409500"/>
          </a:xfrm>
          <a:prstGeom prst="rect">
            <a:avLst/>
          </a:prstGeom>
          <a:gradFill>
            <a:gsLst>
              <a:gs pos="0">
                <a:srgbClr val="3176EE"/>
              </a:gs>
              <a:gs pos="100000">
                <a:srgbClr val="14284D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accent2"/>
              </a:highlight>
            </a:endParaRPr>
          </a:p>
        </p:txBody>
      </p:sp>
      <p:sp>
        <p:nvSpPr>
          <p:cNvPr id="68" name="Google Shape;68;p15"/>
          <p:cNvSpPr txBox="1"/>
          <p:nvPr>
            <p:ph type="title"/>
          </p:nvPr>
        </p:nvSpPr>
        <p:spPr>
          <a:xfrm>
            <a:off x="0" y="0"/>
            <a:ext cx="4280700" cy="5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</a:rPr>
              <a:t>Klaviyo Performance Overview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0" y="4850725"/>
            <a:ext cx="9144000" cy="292800"/>
          </a:xfrm>
          <a:prstGeom prst="rect">
            <a:avLst/>
          </a:prstGeom>
          <a:gradFill>
            <a:gsLst>
              <a:gs pos="0">
                <a:srgbClr val="3176EE"/>
              </a:gs>
              <a:gs pos="100000">
                <a:srgbClr val="14284D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accent2"/>
              </a:highlight>
            </a:endParaRPr>
          </a:p>
        </p:txBody>
      </p:sp>
      <p:pic>
        <p:nvPicPr>
          <p:cNvPr id="70" name="Google Shape;70;p15" title="Digitsup_LOGO_Sec.png"/>
          <p:cNvPicPr preferRelativeResize="0"/>
          <p:nvPr/>
        </p:nvPicPr>
        <p:blipFill rotWithShape="1">
          <a:blip r:embed="rId3">
            <a:alphaModFix/>
          </a:blip>
          <a:srcRect b="32090" l="25018" r="24081" t="4779"/>
          <a:stretch/>
        </p:blipFill>
        <p:spPr>
          <a:xfrm>
            <a:off x="94375" y="4516375"/>
            <a:ext cx="589552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511125" y="543575"/>
            <a:ext cx="1176000" cy="3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900">
                <a:solidFill>
                  <a:schemeClr val="dk1"/>
                </a:solidFill>
              </a:rPr>
              <a:t>YoY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4918575" y="543575"/>
            <a:ext cx="1176000" cy="3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900">
                <a:solidFill>
                  <a:schemeClr val="dk1"/>
                </a:solidFill>
              </a:rPr>
              <a:t>WoW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04075" y="3273775"/>
            <a:ext cx="4351200" cy="120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-GB" sz="750">
                <a:solidFill>
                  <a:srgbClr val="2E7D32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What's Working</a:t>
            </a:r>
            <a:endParaRPr b="1" sz="750">
              <a:solidFill>
                <a:srgbClr val="2E7D32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6225" lvl="0" marL="457200" rtl="0" algn="l">
              <a:lnSpc>
                <a:spcPct val="13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Font typeface="Montserrat"/>
              <a:buChar char="●"/>
            </a:pPr>
            <a:r>
              <a:rPr lang="en-GB" sz="75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Flows at $83.5K generated 73.34% of all attributed revenue, up 27.5% YoY — the automation program continues to carry the week</a:t>
            </a:r>
            <a:endParaRPr sz="75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6225" lvl="0" marL="45720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Montserrat"/>
              <a:buChar char="●"/>
            </a:pPr>
            <a:r>
              <a:rPr lang="en-GB" sz="75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SMS at $41.7K now represents 36.64% of the attributed mix, maintaining its share on a full-price calendar</a:t>
            </a:r>
            <a:endParaRPr sz="75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6225" lvl="0" marL="45720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Montserrat"/>
              <a:buChar char="●"/>
            </a:pPr>
            <a:r>
              <a:rPr lang="en-GB" sz="75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Total Shopify revenue at $201,859.46 is down just 0.7% YoY — holding near flat against a prior year that included an active spring flash sale period</a:t>
            </a:r>
            <a:endParaRPr sz="75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4795075" y="3273763"/>
            <a:ext cx="4126800" cy="120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50">
                <a:solidFill>
                  <a:srgbClr val="C62828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Needs Attention</a:t>
            </a:r>
            <a:endParaRPr b="1" sz="750">
              <a:solidFill>
                <a:srgbClr val="C62828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6225" lvl="0" marL="457200" rtl="0" algn="l">
              <a:lnSpc>
                <a:spcPct val="15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Font typeface="Montserrat"/>
              <a:buChar char="●"/>
            </a:pPr>
            <a:r>
              <a:rPr lang="en-GB" sz="75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Campaign revenue at $30.3K is down 49.2% YoY — the prior year comparison includes spring flash sale sends that significantly inflated conversion volume. A like-for-like read will be clearer in coming weeks as the comp normalizes</a:t>
            </a:r>
            <a:endParaRPr sz="75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6225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Montserrat"/>
              <a:buChar char="●"/>
            </a:pPr>
            <a:r>
              <a:rPr lang="en-GB" sz="75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Attributed revenue at $114K is down 9.1% YoY with WoW declines across both channels — campaign performance is the primary drag and warrants continued monitoring</a:t>
            </a:r>
            <a:endParaRPr sz="75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5" name="Google Shape;75;p15" title="Screenshot 2026-03-31 at 9.47.30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250" y="883476"/>
            <a:ext cx="3199827" cy="1209586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 title="Screenshot 2026-03-31 at 9.47.52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60525" y="883475"/>
            <a:ext cx="3379655" cy="1210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 title="Screenshot 2026-03-31 at 9.48.00 A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73244" y="1977972"/>
            <a:ext cx="3307746" cy="638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5" title="Screenshot 2026-03-31 at 9.48.04 A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66372" y="2542531"/>
            <a:ext cx="3379653" cy="629191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5" title="Screenshot 2026-03-31 at 9.47.34 AM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9792" y="1934056"/>
            <a:ext cx="3199825" cy="66411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5" title="Screenshot 2026-03-31 at 9.47.40 AM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09800" y="2498763"/>
            <a:ext cx="3199825" cy="6090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/>
          <p:nvPr/>
        </p:nvSpPr>
        <p:spPr>
          <a:xfrm>
            <a:off x="0" y="4850725"/>
            <a:ext cx="9144000" cy="292800"/>
          </a:xfrm>
          <a:prstGeom prst="rect">
            <a:avLst/>
          </a:prstGeom>
          <a:gradFill>
            <a:gsLst>
              <a:gs pos="0">
                <a:srgbClr val="3176EE"/>
              </a:gs>
              <a:gs pos="100000">
                <a:srgbClr val="14284D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accent2"/>
              </a:highlight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0" y="0"/>
            <a:ext cx="9144000" cy="409500"/>
          </a:xfrm>
          <a:prstGeom prst="rect">
            <a:avLst/>
          </a:prstGeom>
          <a:gradFill>
            <a:gsLst>
              <a:gs pos="0">
                <a:srgbClr val="3176EE"/>
              </a:gs>
              <a:gs pos="100000">
                <a:srgbClr val="14284D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accent2"/>
              </a:highlight>
            </a:endParaRPr>
          </a:p>
        </p:txBody>
      </p:sp>
      <p:sp>
        <p:nvSpPr>
          <p:cNvPr id="87" name="Google Shape;87;p16"/>
          <p:cNvSpPr txBox="1"/>
          <p:nvPr>
            <p:ph type="title"/>
          </p:nvPr>
        </p:nvSpPr>
        <p:spPr>
          <a:xfrm>
            <a:off x="0" y="0"/>
            <a:ext cx="4280700" cy="4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</a:rPr>
              <a:t>Klaviyo Campaign Review</a:t>
            </a:r>
            <a:endParaRPr b="1" sz="2000">
              <a:solidFill>
                <a:schemeClr val="lt1"/>
              </a:solidFill>
            </a:endParaRPr>
          </a:p>
        </p:txBody>
      </p:sp>
      <p:pic>
        <p:nvPicPr>
          <p:cNvPr id="88" name="Google Shape;88;p16" title="Digitsup_LOGO_Sec.png"/>
          <p:cNvPicPr preferRelativeResize="0"/>
          <p:nvPr/>
        </p:nvPicPr>
        <p:blipFill rotWithShape="1">
          <a:blip r:embed="rId3">
            <a:alphaModFix/>
          </a:blip>
          <a:srcRect b="32090" l="25018" r="24081" t="4779"/>
          <a:stretch/>
        </p:blipFill>
        <p:spPr>
          <a:xfrm>
            <a:off x="94375" y="4516375"/>
            <a:ext cx="589552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/>
          <p:nvPr/>
        </p:nvSpPr>
        <p:spPr>
          <a:xfrm>
            <a:off x="312450" y="1277988"/>
            <a:ext cx="4449600" cy="35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rgbClr val="2E7D32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What's Working</a:t>
            </a:r>
            <a:endParaRPr b="1" sz="700">
              <a:solidFill>
                <a:srgbClr val="2E7D32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3050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</a:pPr>
            <a:r>
              <a:rPr lang="en-GB" sz="7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Email click rate up 38.8% YoY at 0.94% on 634K recipients — the list is engaging with spring editorial content at a meaningfully higher rate than last year</a:t>
            </a:r>
            <a:endParaRPr sz="7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3050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</a:pPr>
            <a:r>
              <a:rPr lang="en-GB" sz="7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SMS recipient volume up 22.9% YoY at 81.5K — list growth is real and the channel reach is expanding</a:t>
            </a:r>
            <a:endParaRPr sz="7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3050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</a:pPr>
            <a:r>
              <a:rPr lang="en-GB" sz="7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AOV holding at $176 email / $181 SMS — when buyers do convert from campaigns, spend per order is solid</a:t>
            </a:r>
            <a:endParaRPr sz="7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rgbClr val="C62828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Needs Attention</a:t>
            </a:r>
            <a:endParaRPr b="1" sz="700">
              <a:solidFill>
                <a:srgbClr val="C62828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3050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</a:pPr>
            <a:r>
              <a:rPr lang="en-GB" sz="7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126 unique email conversions from 259K openers — click rate is up but the conversion moment isn't following. The click-to-purchase gap is the primary issue this week and worth reviewing at the landing page and offer level</a:t>
            </a:r>
            <a:endParaRPr sz="7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3050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</a:pPr>
            <a:r>
              <a:rPr lang="en-GB" sz="7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Campaign conversion value at $30.3K is down 49.2% YoY — prior year included spring flash sale sends. Not a like-for-like comparison</a:t>
            </a:r>
            <a:endParaRPr sz="7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Opportunities</a:t>
            </a:r>
            <a:endParaRPr b="1" sz="7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3050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</a:pPr>
            <a:r>
              <a:rPr lang="en-GB" sz="7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3/24 Best Tops of the Season: top campaign this week with 40 orders at $0.0516 RPR and $7.85K conversion value — spring editorial content is converting at the highest rate in the lineup</a:t>
            </a:r>
            <a:endParaRPr sz="7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3050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</a:pPr>
            <a:r>
              <a:rPr lang="en-GB" sz="7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20260327 NCO Welcome Offer at $0.0555 RPR — highest per-recipient revenue of any campaign this week despite the smallest send volume. Targeted sends are punching above their weight</a:t>
            </a:r>
            <a:endParaRPr sz="7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0" name="Google Shape;90;p16" title="Screenshot 2026-03-31 at 9.51.46 AM.png"/>
          <p:cNvPicPr preferRelativeResize="0"/>
          <p:nvPr/>
        </p:nvPicPr>
        <p:blipFill rotWithShape="1">
          <a:blip r:embed="rId4">
            <a:alphaModFix/>
          </a:blip>
          <a:srcRect b="8131" l="0" r="0" t="47535"/>
          <a:stretch/>
        </p:blipFill>
        <p:spPr>
          <a:xfrm>
            <a:off x="312459" y="564174"/>
            <a:ext cx="2284766" cy="631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6" title="Screenshot 2026-03-31 at 9.51.46 AM.png"/>
          <p:cNvPicPr preferRelativeResize="0"/>
          <p:nvPr/>
        </p:nvPicPr>
        <p:blipFill rotWithShape="1">
          <a:blip r:embed="rId4">
            <a:alphaModFix/>
          </a:blip>
          <a:srcRect b="54107" l="0" r="0" t="0"/>
          <a:stretch/>
        </p:blipFill>
        <p:spPr>
          <a:xfrm>
            <a:off x="2535100" y="553087"/>
            <a:ext cx="2284766" cy="653172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6" title="Screenshot 2026-03-31 at 9.51.52 AM.png"/>
          <p:cNvPicPr preferRelativeResize="0"/>
          <p:nvPr/>
        </p:nvPicPr>
        <p:blipFill rotWithShape="1">
          <a:blip r:embed="rId5">
            <a:alphaModFix/>
          </a:blip>
          <a:srcRect b="0" l="0" r="76723" t="0"/>
          <a:stretch/>
        </p:blipFill>
        <p:spPr>
          <a:xfrm>
            <a:off x="5253475" y="728350"/>
            <a:ext cx="1465394" cy="380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6" title="Screenshot 2026-03-31 at 9.51.52 AM.png"/>
          <p:cNvPicPr preferRelativeResize="0"/>
          <p:nvPr/>
        </p:nvPicPr>
        <p:blipFill rotWithShape="1">
          <a:blip r:embed="rId5">
            <a:alphaModFix/>
          </a:blip>
          <a:srcRect b="0" l="48393" r="29204" t="0"/>
          <a:stretch/>
        </p:blipFill>
        <p:spPr>
          <a:xfrm>
            <a:off x="6471618" y="728350"/>
            <a:ext cx="1410394" cy="380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6" title="Screenshot 2026-03-31 at 9.51.52 AM.png"/>
          <p:cNvPicPr preferRelativeResize="0"/>
          <p:nvPr/>
        </p:nvPicPr>
        <p:blipFill rotWithShape="1">
          <a:blip r:embed="rId5">
            <a:alphaModFix/>
          </a:blip>
          <a:srcRect b="0" l="78913" r="0" t="0"/>
          <a:stretch/>
        </p:blipFill>
        <p:spPr>
          <a:xfrm>
            <a:off x="7706728" y="728363"/>
            <a:ext cx="1327523" cy="380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/>
          <p:nvPr/>
        </p:nvSpPr>
        <p:spPr>
          <a:xfrm>
            <a:off x="0" y="0"/>
            <a:ext cx="9144000" cy="409500"/>
          </a:xfrm>
          <a:prstGeom prst="rect">
            <a:avLst/>
          </a:prstGeom>
          <a:gradFill>
            <a:gsLst>
              <a:gs pos="0">
                <a:srgbClr val="3176EE"/>
              </a:gs>
              <a:gs pos="100000">
                <a:srgbClr val="14284D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accent2"/>
              </a:highlight>
            </a:endParaRPr>
          </a:p>
        </p:txBody>
      </p:sp>
      <p:sp>
        <p:nvSpPr>
          <p:cNvPr id="100" name="Google Shape;100;p17"/>
          <p:cNvSpPr txBox="1"/>
          <p:nvPr>
            <p:ph type="title"/>
          </p:nvPr>
        </p:nvSpPr>
        <p:spPr>
          <a:xfrm>
            <a:off x="0" y="0"/>
            <a:ext cx="4280700" cy="4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</a:rPr>
              <a:t>Klaviyo Flow Review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101" name="Google Shape;101;p17"/>
          <p:cNvSpPr/>
          <p:nvPr/>
        </p:nvSpPr>
        <p:spPr>
          <a:xfrm>
            <a:off x="0" y="4850725"/>
            <a:ext cx="9144000" cy="292800"/>
          </a:xfrm>
          <a:prstGeom prst="rect">
            <a:avLst/>
          </a:prstGeom>
          <a:gradFill>
            <a:gsLst>
              <a:gs pos="0">
                <a:srgbClr val="3176EE"/>
              </a:gs>
              <a:gs pos="100000">
                <a:srgbClr val="14284D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accent2"/>
              </a:highlight>
            </a:endParaRPr>
          </a:p>
        </p:txBody>
      </p:sp>
      <p:pic>
        <p:nvPicPr>
          <p:cNvPr id="102" name="Google Shape;102;p17" title="Digitsup_LOGO_Sec.png"/>
          <p:cNvPicPr preferRelativeResize="0"/>
          <p:nvPr/>
        </p:nvPicPr>
        <p:blipFill rotWithShape="1">
          <a:blip r:embed="rId3">
            <a:alphaModFix/>
          </a:blip>
          <a:srcRect b="32090" l="25018" r="24081" t="4779"/>
          <a:stretch/>
        </p:blipFill>
        <p:spPr>
          <a:xfrm>
            <a:off x="94375" y="4516375"/>
            <a:ext cx="589552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7"/>
          <p:cNvSpPr txBox="1"/>
          <p:nvPr/>
        </p:nvSpPr>
        <p:spPr>
          <a:xfrm>
            <a:off x="230325" y="1486938"/>
            <a:ext cx="4592700" cy="31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750">
                <a:solidFill>
                  <a:srgbClr val="2E7D32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What's Working</a:t>
            </a:r>
            <a:endParaRPr b="1" sz="750">
              <a:solidFill>
                <a:srgbClr val="2E7D32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6225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Montserrat"/>
              <a:buChar char="●"/>
            </a:pPr>
            <a:r>
              <a:rPr lang="en-GB" sz="75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342 unique email flow conversions (+60.6% YoY) and 200 SMS conversions (+9.3% YoY) — conversion strength is up across both channels simultaneously</a:t>
            </a:r>
            <a:endParaRPr sz="75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6225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Montserrat"/>
              <a:buChar char="●"/>
            </a:pPr>
            <a:r>
              <a:rPr lang="en-GB" sz="75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SMS flow recipients up 195.9% YoY at 11.1K — audience growth is compounding and driving the $34.6K conversion value (+12.2% YoY)</a:t>
            </a:r>
            <a:endParaRPr sz="75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6225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Montserrat"/>
              <a:buChar char="●"/>
            </a:pPr>
            <a:r>
              <a:rPr lang="en-GB" sz="75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Welcome Series Email 2026: 77 orders from 4.91K recipients at $2.48 RPR, outperforming 2025's Welcome Series at $1.3 RPR on a comparable audience</a:t>
            </a:r>
            <a:endParaRPr sz="75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750">
                <a:solidFill>
                  <a:srgbClr val="C62828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Needs Attention</a:t>
            </a:r>
            <a:endParaRPr b="1" sz="750">
              <a:solidFill>
                <a:srgbClr val="C62828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6225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Montserrat"/>
              <a:buChar char="●"/>
            </a:pPr>
            <a:r>
              <a:rPr lang="en-GB" sz="75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Email AOV in flows at $142, down 11.6% YoY — conversions are up sharply but order size has compressed. Worth monitoring whether this is product mix or a flow-level offer signal</a:t>
            </a:r>
            <a:endParaRPr sz="75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75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Opportunities</a:t>
            </a:r>
            <a:endParaRPr b="1" sz="75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6225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Montserrat"/>
              <a:buChar char="●"/>
            </a:pPr>
            <a:r>
              <a:rPr lang="en-GB" sz="75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Welcome Series SMS 2026 at 5.91% placed order rate ($10.4 RPR) — new subscriber quality remains high and list acquisition growth feeds this directly</a:t>
            </a:r>
            <a:endParaRPr sz="75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6225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Montserrat"/>
              <a:buChar char="●"/>
            </a:pPr>
            <a:r>
              <a:rPr lang="en-GB" sz="75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Abandoned Checkout 2025 at 6.86% placed order rate from 950 recipients ($10.5 RPR) — the highest RPR of any top flow this week</a:t>
            </a:r>
            <a:endParaRPr sz="75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4" name="Google Shape;104;p17" title="Screenshot 2026-03-31 at 9.53.25 AM.png"/>
          <p:cNvPicPr preferRelativeResize="0"/>
          <p:nvPr/>
        </p:nvPicPr>
        <p:blipFill rotWithShape="1">
          <a:blip r:embed="rId4">
            <a:alphaModFix/>
          </a:blip>
          <a:srcRect b="9686" l="0" r="0" t="47420"/>
          <a:stretch/>
        </p:blipFill>
        <p:spPr>
          <a:xfrm>
            <a:off x="301150" y="609545"/>
            <a:ext cx="2327838" cy="6498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7" title="Screenshot 2026-03-31 at 9.53.25 AM.png"/>
          <p:cNvPicPr preferRelativeResize="0"/>
          <p:nvPr/>
        </p:nvPicPr>
        <p:blipFill rotWithShape="1">
          <a:blip r:embed="rId4">
            <a:alphaModFix/>
          </a:blip>
          <a:srcRect b="53475" l="0" r="0" t="0"/>
          <a:stretch/>
        </p:blipFill>
        <p:spPr>
          <a:xfrm>
            <a:off x="2628988" y="582025"/>
            <a:ext cx="2327838" cy="70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7" title="Screenshot 2026-03-31 at 9.53.32 AM.png"/>
          <p:cNvPicPr preferRelativeResize="0"/>
          <p:nvPr/>
        </p:nvPicPr>
        <p:blipFill rotWithShape="1">
          <a:blip r:embed="rId5">
            <a:alphaModFix/>
          </a:blip>
          <a:srcRect b="0" l="0" r="77903" t="0"/>
          <a:stretch/>
        </p:blipFill>
        <p:spPr>
          <a:xfrm>
            <a:off x="4956824" y="647475"/>
            <a:ext cx="1434155" cy="396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7" title="Screenshot 2026-03-31 at 9.53.32 AM.png"/>
          <p:cNvPicPr preferRelativeResize="0"/>
          <p:nvPr/>
        </p:nvPicPr>
        <p:blipFill rotWithShape="1">
          <a:blip r:embed="rId5">
            <a:alphaModFix/>
          </a:blip>
          <a:srcRect b="0" l="51559" r="27958" t="0"/>
          <a:stretch/>
        </p:blipFill>
        <p:spPr>
          <a:xfrm>
            <a:off x="6390979" y="647475"/>
            <a:ext cx="1329385" cy="396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7" title="Screenshot 2026-03-31 at 9.53.32 AM.png"/>
          <p:cNvPicPr preferRelativeResize="0"/>
          <p:nvPr/>
        </p:nvPicPr>
        <p:blipFill rotWithShape="1">
          <a:blip r:embed="rId5">
            <a:alphaModFix/>
          </a:blip>
          <a:srcRect b="0" l="79517" r="0" t="0"/>
          <a:stretch/>
        </p:blipFill>
        <p:spPr>
          <a:xfrm>
            <a:off x="7605515" y="647475"/>
            <a:ext cx="1329385" cy="396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/>
          <p:nvPr/>
        </p:nvSpPr>
        <p:spPr>
          <a:xfrm>
            <a:off x="0" y="4850725"/>
            <a:ext cx="9144000" cy="292800"/>
          </a:xfrm>
          <a:prstGeom prst="rect">
            <a:avLst/>
          </a:prstGeom>
          <a:gradFill>
            <a:gsLst>
              <a:gs pos="0">
                <a:srgbClr val="3176EE"/>
              </a:gs>
              <a:gs pos="100000">
                <a:srgbClr val="14284D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accent2"/>
              </a:highlight>
            </a:endParaRPr>
          </a:p>
        </p:txBody>
      </p:sp>
      <p:sp>
        <p:nvSpPr>
          <p:cNvPr id="114" name="Google Shape;114;p18"/>
          <p:cNvSpPr/>
          <p:nvPr/>
        </p:nvSpPr>
        <p:spPr>
          <a:xfrm>
            <a:off x="0" y="0"/>
            <a:ext cx="9144000" cy="409500"/>
          </a:xfrm>
          <a:prstGeom prst="rect">
            <a:avLst/>
          </a:prstGeom>
          <a:gradFill>
            <a:gsLst>
              <a:gs pos="0">
                <a:srgbClr val="3176EE"/>
              </a:gs>
              <a:gs pos="100000">
                <a:srgbClr val="14284D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accent2"/>
              </a:highlight>
            </a:endParaRPr>
          </a:p>
        </p:txBody>
      </p:sp>
      <p:sp>
        <p:nvSpPr>
          <p:cNvPr id="115" name="Google Shape;115;p18"/>
          <p:cNvSpPr txBox="1"/>
          <p:nvPr>
            <p:ph type="title"/>
          </p:nvPr>
        </p:nvSpPr>
        <p:spPr>
          <a:xfrm>
            <a:off x="0" y="0"/>
            <a:ext cx="4280700" cy="4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</a:rPr>
              <a:t>Klaviyo Top 5 Review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116" name="Google Shape;116;p18"/>
          <p:cNvSpPr txBox="1"/>
          <p:nvPr>
            <p:ph idx="1" type="body"/>
          </p:nvPr>
        </p:nvSpPr>
        <p:spPr>
          <a:xfrm>
            <a:off x="318550" y="441300"/>
            <a:ext cx="1176000" cy="3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900">
                <a:solidFill>
                  <a:schemeClr val="dk1"/>
                </a:solidFill>
              </a:rPr>
              <a:t>Campaigns 2026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4798375" y="441300"/>
            <a:ext cx="1176000" cy="3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900">
                <a:solidFill>
                  <a:schemeClr val="dk1"/>
                </a:solidFill>
              </a:rPr>
              <a:t>Flows 2026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118" name="Google Shape;118;p18"/>
          <p:cNvSpPr txBox="1"/>
          <p:nvPr>
            <p:ph idx="1" type="body"/>
          </p:nvPr>
        </p:nvSpPr>
        <p:spPr>
          <a:xfrm>
            <a:off x="290913" y="2553050"/>
            <a:ext cx="1176000" cy="3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900">
                <a:solidFill>
                  <a:schemeClr val="dk1"/>
                </a:solidFill>
              </a:rPr>
              <a:t>Campaigns 2025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119" name="Google Shape;119;p18"/>
          <p:cNvSpPr txBox="1"/>
          <p:nvPr>
            <p:ph idx="1" type="body"/>
          </p:nvPr>
        </p:nvSpPr>
        <p:spPr>
          <a:xfrm>
            <a:off x="4770738" y="2553050"/>
            <a:ext cx="1176000" cy="3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900">
                <a:solidFill>
                  <a:schemeClr val="dk1"/>
                </a:solidFill>
              </a:rPr>
              <a:t>Flows 2025</a:t>
            </a:r>
            <a:endParaRPr sz="900">
              <a:solidFill>
                <a:schemeClr val="dk1"/>
              </a:solidFill>
            </a:endParaRPr>
          </a:p>
        </p:txBody>
      </p:sp>
      <p:pic>
        <p:nvPicPr>
          <p:cNvPr id="120" name="Google Shape;120;p18" title="Screenshot 2026-03-31 at 9.54.47 AM.png"/>
          <p:cNvPicPr preferRelativeResize="0"/>
          <p:nvPr/>
        </p:nvPicPr>
        <p:blipFill rotWithShape="1">
          <a:blip r:embed="rId3">
            <a:alphaModFix/>
          </a:blip>
          <a:srcRect b="0" l="0" r="65379" t="0"/>
          <a:stretch/>
        </p:blipFill>
        <p:spPr>
          <a:xfrm>
            <a:off x="270286" y="781200"/>
            <a:ext cx="1766186" cy="183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8" title="Screenshot 2026-03-31 at 9.54.43 AM.png"/>
          <p:cNvPicPr preferRelativeResize="0"/>
          <p:nvPr/>
        </p:nvPicPr>
        <p:blipFill rotWithShape="1">
          <a:blip r:embed="rId4">
            <a:alphaModFix/>
          </a:blip>
          <a:srcRect b="0" l="0" r="74751" t="0"/>
          <a:stretch/>
        </p:blipFill>
        <p:spPr>
          <a:xfrm>
            <a:off x="4759136" y="781200"/>
            <a:ext cx="1349118" cy="177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8" title="Screenshot 2026-03-31 at 9.54.43 AM.png"/>
          <p:cNvPicPr preferRelativeResize="0"/>
          <p:nvPr/>
        </p:nvPicPr>
        <p:blipFill rotWithShape="1">
          <a:blip r:embed="rId4">
            <a:alphaModFix/>
          </a:blip>
          <a:srcRect b="0" l="45758" r="0" t="0"/>
          <a:stretch/>
        </p:blipFill>
        <p:spPr>
          <a:xfrm>
            <a:off x="6108257" y="781200"/>
            <a:ext cx="2898369" cy="177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8" title="Screenshot 2026-03-31 at 9.54.47 AM.png"/>
          <p:cNvPicPr preferRelativeResize="0"/>
          <p:nvPr/>
        </p:nvPicPr>
        <p:blipFill rotWithShape="1">
          <a:blip r:embed="rId3">
            <a:alphaModFix/>
          </a:blip>
          <a:srcRect b="0" l="51239" r="0" t="0"/>
          <a:stretch/>
        </p:blipFill>
        <p:spPr>
          <a:xfrm>
            <a:off x="1938329" y="781200"/>
            <a:ext cx="2487520" cy="183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8" title="Screenshot 2026-03-31 at 9.56.21 AM.png"/>
          <p:cNvPicPr preferRelativeResize="0"/>
          <p:nvPr/>
        </p:nvPicPr>
        <p:blipFill rotWithShape="1">
          <a:blip r:embed="rId5">
            <a:alphaModFix/>
          </a:blip>
          <a:srcRect b="0" l="50858" r="0" t="0"/>
          <a:stretch/>
        </p:blipFill>
        <p:spPr>
          <a:xfrm>
            <a:off x="6389767" y="2954925"/>
            <a:ext cx="2483471" cy="1675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8" title="Screenshot 2026-03-31 at 9.56.15 AM.png"/>
          <p:cNvPicPr preferRelativeResize="0"/>
          <p:nvPr/>
        </p:nvPicPr>
        <p:blipFill rotWithShape="1">
          <a:blip r:embed="rId6">
            <a:alphaModFix/>
          </a:blip>
          <a:srcRect b="0" l="51529" r="0" t="0"/>
          <a:stretch/>
        </p:blipFill>
        <p:spPr>
          <a:xfrm>
            <a:off x="1862014" y="2784975"/>
            <a:ext cx="2321428" cy="183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8" title="Screenshot 2026-03-31 at 9.56.15 AM.png"/>
          <p:cNvPicPr preferRelativeResize="0"/>
          <p:nvPr/>
        </p:nvPicPr>
        <p:blipFill rotWithShape="1">
          <a:blip r:embed="rId6">
            <a:alphaModFix/>
          </a:blip>
          <a:srcRect b="0" l="0" r="66775" t="0"/>
          <a:stretch/>
        </p:blipFill>
        <p:spPr>
          <a:xfrm>
            <a:off x="270763" y="2784975"/>
            <a:ext cx="1591254" cy="183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8" title="Screenshot 2026-03-31 at 9.56.21 AM.png"/>
          <p:cNvPicPr preferRelativeResize="0"/>
          <p:nvPr/>
        </p:nvPicPr>
        <p:blipFill rotWithShape="1">
          <a:blip r:embed="rId5">
            <a:alphaModFix/>
          </a:blip>
          <a:srcRect b="0" l="0" r="67962" t="0"/>
          <a:stretch/>
        </p:blipFill>
        <p:spPr>
          <a:xfrm>
            <a:off x="4770737" y="2954925"/>
            <a:ext cx="1619032" cy="1675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8" title="Digitsup_LOGO_Sec.png"/>
          <p:cNvPicPr preferRelativeResize="0"/>
          <p:nvPr/>
        </p:nvPicPr>
        <p:blipFill rotWithShape="1">
          <a:blip r:embed="rId7">
            <a:alphaModFix/>
          </a:blip>
          <a:srcRect b="32090" l="25018" r="24081" t="4779"/>
          <a:stretch/>
        </p:blipFill>
        <p:spPr>
          <a:xfrm>
            <a:off x="94375" y="4516375"/>
            <a:ext cx="589552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9"/>
          <p:cNvSpPr/>
          <p:nvPr/>
        </p:nvSpPr>
        <p:spPr>
          <a:xfrm>
            <a:off x="0" y="4850725"/>
            <a:ext cx="9144000" cy="292800"/>
          </a:xfrm>
          <a:prstGeom prst="rect">
            <a:avLst/>
          </a:prstGeom>
          <a:gradFill>
            <a:gsLst>
              <a:gs pos="0">
                <a:srgbClr val="3176EE"/>
              </a:gs>
              <a:gs pos="100000">
                <a:srgbClr val="14284D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accent2"/>
              </a:highlight>
            </a:endParaRPr>
          </a:p>
        </p:txBody>
      </p:sp>
      <p:sp>
        <p:nvSpPr>
          <p:cNvPr id="134" name="Google Shape;134;p19"/>
          <p:cNvSpPr/>
          <p:nvPr/>
        </p:nvSpPr>
        <p:spPr>
          <a:xfrm>
            <a:off x="0" y="0"/>
            <a:ext cx="9144000" cy="409500"/>
          </a:xfrm>
          <a:prstGeom prst="rect">
            <a:avLst/>
          </a:prstGeom>
          <a:gradFill>
            <a:gsLst>
              <a:gs pos="0">
                <a:srgbClr val="3176EE"/>
              </a:gs>
              <a:gs pos="100000">
                <a:srgbClr val="14284D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accent2"/>
              </a:highlight>
            </a:endParaRPr>
          </a:p>
        </p:txBody>
      </p:sp>
      <p:sp>
        <p:nvSpPr>
          <p:cNvPr id="135" name="Google Shape;135;p19"/>
          <p:cNvSpPr txBox="1"/>
          <p:nvPr>
            <p:ph type="title"/>
          </p:nvPr>
        </p:nvSpPr>
        <p:spPr>
          <a:xfrm>
            <a:off x="0" y="0"/>
            <a:ext cx="4280700" cy="4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</a:rPr>
              <a:t>Klaviyo Top 5 Insights</a:t>
            </a:r>
            <a:endParaRPr b="1" sz="2000">
              <a:solidFill>
                <a:schemeClr val="lt1"/>
              </a:solidFill>
            </a:endParaRPr>
          </a:p>
        </p:txBody>
      </p:sp>
      <p:pic>
        <p:nvPicPr>
          <p:cNvPr id="136" name="Google Shape;136;p19" title="Digitsup_LOGO_Sec.png"/>
          <p:cNvPicPr preferRelativeResize="0"/>
          <p:nvPr/>
        </p:nvPicPr>
        <p:blipFill rotWithShape="1">
          <a:blip r:embed="rId3">
            <a:alphaModFix/>
          </a:blip>
          <a:srcRect b="32090" l="25018" r="24081" t="4779"/>
          <a:stretch/>
        </p:blipFill>
        <p:spPr>
          <a:xfrm>
            <a:off x="94375" y="4516375"/>
            <a:ext cx="589552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9"/>
          <p:cNvSpPr txBox="1"/>
          <p:nvPr/>
        </p:nvSpPr>
        <p:spPr>
          <a:xfrm>
            <a:off x="230325" y="775550"/>
            <a:ext cx="4432500" cy="38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85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Campaigns</a:t>
            </a:r>
            <a:br>
              <a:rPr b="1" lang="en-GB" sz="85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endParaRPr b="1" sz="85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82575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Montserrat"/>
              <a:buChar char="●"/>
            </a:pPr>
            <a:r>
              <a:rPr lang="en-GB" sz="85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Best Tops of the Season leads 2026 campaigns at $7.85K on 40 orders — the strongest conversion value of the week by a clear margin</a:t>
            </a:r>
            <a:endParaRPr sz="85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82575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Montserrat"/>
              <a:buChar char="●"/>
            </a:pPr>
            <a:r>
              <a:rPr lang="en-GB" sz="85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The 2025 comp week (Santorini Summer Stripes + Cobalt at $15.1K / 85 orders) shows how much spring flash sale volume inflated last year's campaign numbers — context for the YoY gaps across the campaign view</a:t>
            </a:r>
            <a:endParaRPr sz="85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82575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Montserrat"/>
              <a:buChar char="●"/>
            </a:pPr>
            <a:r>
              <a:rPr lang="en-GB" sz="85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NCO Welcome Offer at $0.0555 RPR is the most efficient send of the week — worth noting for segmentation strategy</a:t>
            </a:r>
            <a:br>
              <a:rPr lang="en-GB" sz="85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endParaRPr sz="85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-GB" sz="850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Flows:</a:t>
            </a:r>
            <a:br>
              <a:rPr b="1" lang="en-GB" sz="850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endParaRPr b="1" sz="850">
              <a:solidFill>
                <a:schemeClr val="dk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82575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Montserrat"/>
              <a:buChar char="●"/>
            </a:pPr>
            <a:r>
              <a:rPr lang="en-GB" sz="850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Welcome Series SMS 2026 at $10.4 RPR continues to lead all flows — no change in the story, list growth is compounding here</a:t>
            </a:r>
            <a:endParaRPr sz="850">
              <a:solidFill>
                <a:schemeClr val="dk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82575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Montserrat"/>
              <a:buChar char="●"/>
            </a:pPr>
            <a:r>
              <a:rPr lang="en-GB" sz="850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Abandoned Checkout 2025 at $10.5 RPR this week vs. $5.13 RPR in the 2025 comp — the 2025 rebuild is clearly outperforming</a:t>
            </a:r>
            <a:endParaRPr sz="850">
              <a:solidFill>
                <a:schemeClr val="dk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82575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Montserrat"/>
              <a:buChar char="●"/>
            </a:pPr>
            <a:r>
              <a:rPr lang="en-GB" sz="850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Browse Abandonment at $0.648 RPR on 8.09K recipients — volume is up and it's now a consistent top-5 contributor</a:t>
            </a:r>
            <a:endParaRPr sz="850">
              <a:solidFill>
                <a:schemeClr val="dk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85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85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t/>
            </a:r>
            <a:endParaRPr sz="85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8" name="Google Shape;13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14075" y="673140"/>
            <a:ext cx="2085226" cy="379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9" title="Screenshot 2026-03-31 at 10.18.24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1025" y="673150"/>
            <a:ext cx="1778750" cy="135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0"/>
          <p:cNvSpPr/>
          <p:nvPr/>
        </p:nvSpPr>
        <p:spPr>
          <a:xfrm>
            <a:off x="0" y="0"/>
            <a:ext cx="9144000" cy="409500"/>
          </a:xfrm>
          <a:prstGeom prst="rect">
            <a:avLst/>
          </a:prstGeom>
          <a:gradFill>
            <a:gsLst>
              <a:gs pos="0">
                <a:srgbClr val="3176EE"/>
              </a:gs>
              <a:gs pos="100000">
                <a:srgbClr val="14284D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accent2"/>
              </a:highlight>
            </a:endParaRPr>
          </a:p>
        </p:txBody>
      </p:sp>
      <p:sp>
        <p:nvSpPr>
          <p:cNvPr id="145" name="Google Shape;145;p20"/>
          <p:cNvSpPr txBox="1"/>
          <p:nvPr>
            <p:ph type="title"/>
          </p:nvPr>
        </p:nvSpPr>
        <p:spPr>
          <a:xfrm>
            <a:off x="0" y="0"/>
            <a:ext cx="4280700" cy="4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</a:rPr>
              <a:t>Klaviyo Last 30 Days YoY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146" name="Google Shape;146;p20"/>
          <p:cNvSpPr/>
          <p:nvPr/>
        </p:nvSpPr>
        <p:spPr>
          <a:xfrm>
            <a:off x="0" y="4850725"/>
            <a:ext cx="9144000" cy="292800"/>
          </a:xfrm>
          <a:prstGeom prst="rect">
            <a:avLst/>
          </a:prstGeom>
          <a:gradFill>
            <a:gsLst>
              <a:gs pos="0">
                <a:srgbClr val="3176EE"/>
              </a:gs>
              <a:gs pos="100000">
                <a:srgbClr val="14284D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accent2"/>
              </a:highlight>
            </a:endParaRPr>
          </a:p>
        </p:txBody>
      </p:sp>
      <p:pic>
        <p:nvPicPr>
          <p:cNvPr id="147" name="Google Shape;147;p20" title="Digitsup_LOGO_Sec.png"/>
          <p:cNvPicPr preferRelativeResize="0"/>
          <p:nvPr/>
        </p:nvPicPr>
        <p:blipFill rotWithShape="1">
          <a:blip r:embed="rId3">
            <a:alphaModFix/>
          </a:blip>
          <a:srcRect b="32090" l="25018" r="24081" t="4779"/>
          <a:stretch/>
        </p:blipFill>
        <p:spPr>
          <a:xfrm>
            <a:off x="94375" y="4516375"/>
            <a:ext cx="589552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0"/>
          <p:cNvSpPr txBox="1"/>
          <p:nvPr/>
        </p:nvSpPr>
        <p:spPr>
          <a:xfrm>
            <a:off x="230325" y="580775"/>
            <a:ext cx="3684600" cy="40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50">
                <a:solidFill>
                  <a:srgbClr val="2E7D32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What's Working</a:t>
            </a:r>
            <a:endParaRPr b="1" sz="750">
              <a:solidFill>
                <a:srgbClr val="2E7D32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6225" lvl="0" marL="457200" rtl="0" algn="l">
              <a:lnSpc>
                <a:spcPct val="155000"/>
              </a:lnSpc>
              <a:spcBef>
                <a:spcPts val="1600"/>
              </a:spcBef>
              <a:spcAft>
                <a:spcPts val="0"/>
              </a:spcAft>
              <a:buClr>
                <a:srgbClr val="444444"/>
              </a:buClr>
              <a:buSzPts val="750"/>
              <a:buFont typeface="Montserrat"/>
              <a:buChar char="●"/>
            </a:pPr>
            <a:r>
              <a:rPr lang="en-GB" sz="7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$553.2K attributed (+3% YoY) on flat total revenue — Klaviyo's share of the business is growing</a:t>
            </a:r>
            <a:endParaRPr sz="7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6225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750"/>
              <a:buFont typeface="Montserrat"/>
              <a:buChar char="●"/>
            </a:pPr>
            <a:r>
              <a:rPr lang="en-GB" sz="7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Abandoned Checkout: $47.2K (+65.52% YoY) at $9.07 RPR — the rebuild continues to outperform</a:t>
            </a:r>
            <a:endParaRPr sz="7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6225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750"/>
              <a:buFont typeface="Montserrat"/>
              <a:buChar char="●"/>
            </a:pPr>
            <a:r>
              <a:rPr lang="en-GB" sz="7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Browse Abandonment: $17.8K (+180.17% YoY) — now a top revenue flow and still scaling</a:t>
            </a:r>
            <a:endParaRPr sz="7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6225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750"/>
              <a:buFont typeface="Montserrat"/>
              <a:buChar char="●"/>
            </a:pPr>
            <a:r>
              <a:rPr lang="en-GB" sz="7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Back In Stock VIP vs. Non-VIP: $18.4K (+499.27% YoY) at $9.43 RPR — auditing that it fires for every restock event remains a quick win</a:t>
            </a:r>
            <a:endParaRPr sz="7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750">
                <a:solidFill>
                  <a:srgbClr val="C62828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Needs Attention</a:t>
            </a:r>
            <a:endParaRPr b="1" sz="750">
              <a:solidFill>
                <a:srgbClr val="C62828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6225" lvl="0" marL="457200" rtl="0" algn="l">
              <a:lnSpc>
                <a:spcPct val="155000"/>
              </a:lnSpc>
              <a:spcBef>
                <a:spcPts val="1600"/>
              </a:spcBef>
              <a:spcAft>
                <a:spcPts val="0"/>
              </a:spcAft>
              <a:buClr>
                <a:srgbClr val="444444"/>
              </a:buClr>
              <a:buSzPts val="750"/>
              <a:buFont typeface="Montserrat"/>
              <a:buChar char="●"/>
            </a:pPr>
            <a:r>
              <a:rPr lang="en-GB" sz="7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Added2Cart down 7.14% YoY at $54.4K — still the #2 flow overall but A/B test results will drive the path to closing this gap</a:t>
            </a:r>
            <a:endParaRPr sz="7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75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Opportunities</a:t>
            </a:r>
            <a:endParaRPr b="1" sz="75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6225" lvl="0" marL="457200" rtl="0" algn="l">
              <a:lnSpc>
                <a:spcPct val="155000"/>
              </a:lnSpc>
              <a:spcBef>
                <a:spcPts val="500"/>
              </a:spcBef>
              <a:spcAft>
                <a:spcPts val="0"/>
              </a:spcAft>
              <a:buClr>
                <a:srgbClr val="444444"/>
              </a:buClr>
              <a:buSzPts val="750"/>
              <a:buFont typeface="Montserrat"/>
              <a:buChar char="●"/>
            </a:pPr>
            <a:r>
              <a:rPr lang="en-GB" sz="7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Welcome Series SMS 2026 at $68K / $10.04 RPR over 30 days — new subscriber acquisition growth compounds directly here</a:t>
            </a:r>
            <a:endParaRPr sz="7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6225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750"/>
              <a:buFont typeface="Montserrat"/>
              <a:buChar char="●"/>
            </a:pPr>
            <a:r>
              <a:rPr lang="en-GB" sz="7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Rewards Monthly Update at $12.7K (+16.39% YoY) — loyalty revenue is building a consistent line month over month</a:t>
            </a:r>
            <a:endParaRPr sz="7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9" name="Google Shape;14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5442" y="409500"/>
            <a:ext cx="5028558" cy="4368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/>
          <p:cNvSpPr/>
          <p:nvPr/>
        </p:nvSpPr>
        <p:spPr>
          <a:xfrm>
            <a:off x="0" y="0"/>
            <a:ext cx="9144000" cy="409500"/>
          </a:xfrm>
          <a:prstGeom prst="rect">
            <a:avLst/>
          </a:prstGeom>
          <a:gradFill>
            <a:gsLst>
              <a:gs pos="0">
                <a:srgbClr val="3176EE"/>
              </a:gs>
              <a:gs pos="100000">
                <a:srgbClr val="14284D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accent2"/>
              </a:highlight>
            </a:endParaRPr>
          </a:p>
        </p:txBody>
      </p:sp>
      <p:sp>
        <p:nvSpPr>
          <p:cNvPr id="155" name="Google Shape;155;p21"/>
          <p:cNvSpPr txBox="1"/>
          <p:nvPr>
            <p:ph type="title"/>
          </p:nvPr>
        </p:nvSpPr>
        <p:spPr>
          <a:xfrm>
            <a:off x="0" y="0"/>
            <a:ext cx="4280700" cy="4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</a:rPr>
              <a:t>Klaviyo Last 30 Days WoW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156" name="Google Shape;156;p21"/>
          <p:cNvSpPr/>
          <p:nvPr/>
        </p:nvSpPr>
        <p:spPr>
          <a:xfrm>
            <a:off x="0" y="4850725"/>
            <a:ext cx="9144000" cy="292800"/>
          </a:xfrm>
          <a:prstGeom prst="rect">
            <a:avLst/>
          </a:prstGeom>
          <a:gradFill>
            <a:gsLst>
              <a:gs pos="0">
                <a:srgbClr val="3176EE"/>
              </a:gs>
              <a:gs pos="100000">
                <a:srgbClr val="14284D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accent2"/>
              </a:highlight>
            </a:endParaRPr>
          </a:p>
        </p:txBody>
      </p:sp>
      <p:pic>
        <p:nvPicPr>
          <p:cNvPr id="157" name="Google Shape;157;p21" title="Digitsup_LOGO_Sec.png"/>
          <p:cNvPicPr preferRelativeResize="0"/>
          <p:nvPr/>
        </p:nvPicPr>
        <p:blipFill rotWithShape="1">
          <a:blip r:embed="rId3">
            <a:alphaModFix/>
          </a:blip>
          <a:srcRect b="32090" l="25018" r="24081" t="4779"/>
          <a:stretch/>
        </p:blipFill>
        <p:spPr>
          <a:xfrm>
            <a:off x="94375" y="4516375"/>
            <a:ext cx="589552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1" title="Screenshot 2026-03-31 at 9.46.32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7250" y="539313"/>
            <a:ext cx="4863299" cy="4181579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1"/>
          <p:cNvSpPr txBox="1"/>
          <p:nvPr/>
        </p:nvSpPr>
        <p:spPr>
          <a:xfrm>
            <a:off x="230325" y="580775"/>
            <a:ext cx="3882900" cy="40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50">
                <a:solidFill>
                  <a:srgbClr val="2E7D32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What's Working</a:t>
            </a:r>
            <a:endParaRPr b="1" sz="650">
              <a:solidFill>
                <a:srgbClr val="2E7D32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69875" lvl="0" marL="457200" rtl="0" algn="l">
              <a:lnSpc>
                <a:spcPct val="155000"/>
              </a:lnSpc>
              <a:spcBef>
                <a:spcPts val="1600"/>
              </a:spcBef>
              <a:spcAft>
                <a:spcPts val="0"/>
              </a:spcAft>
              <a:buClr>
                <a:srgbClr val="444444"/>
              </a:buClr>
              <a:buSzPts val="650"/>
              <a:buFont typeface="Montserrat"/>
              <a:buChar char="●"/>
            </a:pPr>
            <a:r>
              <a:rPr lang="en-GB" sz="6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30-day attributed revenue at $553.2K, up 19% PoP — the full spring flash sale window is captured and flows are carrying the bulk at 66.94% of attributed mix</a:t>
            </a:r>
            <a:endParaRPr sz="6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69875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650"/>
              <a:buFont typeface="Montserrat"/>
              <a:buChar char="●"/>
            </a:pPr>
            <a:r>
              <a:rPr lang="en-GB" sz="6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Added2Cart +74.05% PoP at $54.4K — the biggest mover this period, likely reflecting high-intent browse behavior during the flash sale window</a:t>
            </a:r>
            <a:endParaRPr sz="6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69875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650"/>
              <a:buFont typeface="Montserrat"/>
              <a:buChar char="●"/>
            </a:pPr>
            <a:r>
              <a:rPr lang="en-GB" sz="6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Welcome Series Email 2026 +69.75% PoP at $51.8K and Browse Abandonment +61.69% PoP at $17.8K — automation is compounding across the board</a:t>
            </a:r>
            <a:endParaRPr sz="6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69875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650"/>
              <a:buFont typeface="Montserrat"/>
              <a:buChar char="●"/>
            </a:pPr>
            <a:r>
              <a:rPr lang="en-GB" sz="6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Abandoned Checkout +48.30% PoP at $47.2K and Welcome Series SMS +33.44% PoP at $68K — both flows showing sustained lift as the 30-day window fills out</a:t>
            </a:r>
            <a:endParaRPr sz="6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650">
                <a:solidFill>
                  <a:srgbClr val="C62828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Needs Attention</a:t>
            </a:r>
            <a:endParaRPr b="1" sz="650">
              <a:solidFill>
                <a:srgbClr val="C62828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69875" lvl="0" marL="457200" rtl="0" algn="l">
              <a:lnSpc>
                <a:spcPct val="155000"/>
              </a:lnSpc>
              <a:spcBef>
                <a:spcPts val="1600"/>
              </a:spcBef>
              <a:spcAft>
                <a:spcPts val="0"/>
              </a:spcAft>
              <a:buClr>
                <a:srgbClr val="444444"/>
              </a:buClr>
              <a:buSzPts val="650"/>
              <a:buFont typeface="Montserrat"/>
              <a:buChar char="●"/>
            </a:pPr>
            <a:r>
              <a:rPr lang="en-GB" sz="6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Toki Tier Earned down 43.74% PoP at $13.3K — loyalty flow revenue pulling back WoW after the flash sale activity spike. Worth watching as the window normalizes</a:t>
            </a:r>
            <a:endParaRPr sz="6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65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Opportunities</a:t>
            </a:r>
            <a:endParaRPr b="1" sz="65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69875" lvl="0" marL="457200" rtl="0" algn="l">
              <a:lnSpc>
                <a:spcPct val="155000"/>
              </a:lnSpc>
              <a:spcBef>
                <a:spcPts val="500"/>
              </a:spcBef>
              <a:spcAft>
                <a:spcPts val="0"/>
              </a:spcAft>
              <a:buClr>
                <a:srgbClr val="444444"/>
              </a:buClr>
              <a:buSzPts val="650"/>
              <a:buFont typeface="Montserrat"/>
              <a:buChar char="●"/>
            </a:pPr>
            <a:r>
              <a:rPr lang="en-GB" sz="6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The flash sale exits the 30-day window next week — expect YoY comparisons to shift meaningfully and some WoW flow metrics to compress</a:t>
            </a:r>
            <a:endParaRPr sz="6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69875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650"/>
              <a:buFont typeface="Montserrat"/>
              <a:buChar char="●"/>
            </a:pPr>
            <a:r>
              <a:rPr lang="en-GB" sz="6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Back In Stock down 12.94% PoP and Toki normalizing — both are post-sale corrections, not structural issues. Absolute revenue on both remains healthy</a:t>
            </a:r>
            <a:endParaRPr sz="6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